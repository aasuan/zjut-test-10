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84" r:id="rId14"/>
    <p:sldId id="285" r:id="rId15"/>
    <p:sldId id="286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6AB7F35-DD92-48C5-9307-3BCD4BD15587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ECE5F8D2-4424-4801-AFE3-94F13C96CA58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3" name="Google Shape;20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0" name="Google Shape;320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3" name="Google Shape;343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7" name="Google Shape;337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1" name="Google Shape;351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4" name="Google Shape;394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3" name="Google Shape;423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Google Shape;431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4" name="Google Shape;444;p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7" name="Google Shape;457;p2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9" name="Google Shape;479;p2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9" name="Google Shape;499;p2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95700" y="1581150"/>
            <a:ext cx="4800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苍穹外卖系统</a:t>
            </a:r>
            <a:endParaRPr lang="en-US" sz="6000" b="1" i="0" u="none" strike="noStrike" cap="none">
              <a:solidFill>
                <a:srgbClr val="FFFFF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153025" y="2781300"/>
            <a:ext cx="188595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软件测试正式合格性报</a:t>
            </a:r>
            <a:r>
              <a:rPr lang="zh-CN" altLang="en-US" sz="135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告</a:t>
            </a:r>
            <a:endParaRPr lang="zh-CN" altLang="en-US" sz="1350" b="0" i="0" u="none" strike="noStrike" cap="none">
              <a:solidFill>
                <a:schemeClr val="bg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619750" y="3512790"/>
            <a:ext cx="9525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111500" y="4064635"/>
            <a:ext cx="59690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指导老师：李岩</a:t>
            </a:r>
            <a:r>
              <a:rPr lang="en-US" altLang="zh-CN" sz="180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| </a:t>
            </a:r>
            <a:r>
              <a:rPr lang="zh-CN" altLang="en-US" sz="180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组长</a:t>
            </a:r>
            <a:r>
              <a:rPr lang="en-US" sz="180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：丁崇轩 | 2026.05.28</a:t>
            </a:r>
            <a:endParaRPr lang="en-US" sz="1800" b="0" i="0" u="none" strike="noStrike" cap="none">
              <a:solidFill>
                <a:schemeClr val="bg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810125" y="5269110"/>
            <a:ext cx="2571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计算机科学与技术学院、软件学院</a:t>
            </a:r>
            <a:endParaRPr lang="en-US" sz="1350" b="0" i="0" u="none" strike="noStrike" cap="none">
              <a:solidFill>
                <a:schemeClr val="bg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43680" y="4565650"/>
            <a:ext cx="4105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组员：</a:t>
            </a:r>
            <a:r>
              <a:rPr lang="zh-CN" altLang="en-US" sz="1800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</a:rPr>
              <a:t>邵蔚蓝，陈文杰，艾恒成，诸佳璐，王浩鹏，张瑞东，翁士帅</a:t>
            </a:r>
            <a:endParaRPr lang="zh-CN" altLang="en-US" sz="1800">
              <a:solidFill>
                <a:schemeClr val="bg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858690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项目标识与系统概述 (CH 1)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336726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测试计划与分工 (CH 2)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814762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测试工具与环境配置 (CH 2)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292798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测试概述与执行记录 (CH 3)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286500" y="2858690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单元测试深度分析 (CH 4)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286500" y="3336726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集成测试验证 (CH 5)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286500" y="3814762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07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系统测试与压测 (CH 6)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286500" y="4292798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08</a:t>
            </a:r>
            <a:r>
              <a:rPr lang="en-US" sz="16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总结、社会影响与个人总结</a:t>
            </a:r>
            <a:endParaRPr lang="en-US" sz="16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报告大纲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140547"/>
            <a:ext cx="5334000" cy="1177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221649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项目基本信息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graphicFrame>
        <p:nvGraphicFramePr>
          <p:cNvPr id="113" name="Google Shape;113;p15"/>
          <p:cNvGraphicFramePr/>
          <p:nvPr/>
        </p:nvGraphicFramePr>
        <p:xfrm>
          <a:off x="571500" y="2845147"/>
          <a:ext cx="5334000" cy="3000000"/>
        </p:xfrm>
        <a:graphic>
          <a:graphicData uri="http://schemas.openxmlformats.org/drawingml/2006/table">
            <a:tbl>
              <a:tblPr firstRow="1" bandRow="1">
                <a:noFill/>
                <a:tableStyleId>{A6AB7F35-DD92-48C5-9307-3BCD4BD15587}</a:tableStyleId>
              </a:tblPr>
              <a:tblGrid>
                <a:gridCol w="1326500"/>
                <a:gridCol w="4007500"/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项目名称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苍穹外卖（Sky Take-Out）报告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文档标识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ZJUT-TEST-10-TR-2026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核心模块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sky-common, sky-pojo, sky-server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15"/>
          <p:cNvSpPr txBox="1"/>
          <p:nvPr/>
        </p:nvSpPr>
        <p:spPr>
          <a:xfrm>
            <a:off x="6286500" y="221649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测试编号体系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71500" y="3230909"/>
            <a:ext cx="132650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898005" y="3230909"/>
            <a:ext cx="40074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445487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测试对象：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一款基于 Spring Boot 3 + MyBatis + Redis 开发的在线订购系统，涵盖管理端（商家）与 C 端（小程序）。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610350" y="284419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667500" y="284514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UT-M2～UT-M8：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七大业务模块单元测试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610350" y="311848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0" y="311943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IT-M2～IT-M8：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模块间集成测试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610350" y="339277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667500" y="339372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ST-FUNC：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Apifox 功能自动化系统测试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610350" y="366706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667500" y="366801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ST-PERF：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JMeter 并发压力性能测试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3630959"/>
            <a:ext cx="132650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898005" y="3630959"/>
            <a:ext cx="40074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71500" y="4031009"/>
            <a:ext cx="132650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1898005" y="4031009"/>
            <a:ext cx="400749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 1 章：项目范围与系统标识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195512"/>
            <a:ext cx="5334000" cy="323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4161383"/>
            <a:ext cx="5334000" cy="1177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2205037"/>
            <a:ext cx="5314950" cy="3219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286500" y="219551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三模块分层架构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286500" y="2824162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sky-server：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业务主模块，承载核心 Controller/Service 逻辑。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286500" y="3269902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sky-pojo：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数据契约模块，定义 Entity/DTO/VO。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286500" y="3715642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sky-common：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基础能力模块，封装 JWT、拦截器与异常处理。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477000" y="4475708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前后端分离架构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，数据层以 MySQL 8 为持久化，Redis 7 为缓存，OSS 为文件存储。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系统架构设计概览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195195"/>
            <a:ext cx="5324475" cy="31426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1047750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关键时间节点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00100" y="2983230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角色分工 (M1-M8)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graphicFrame>
        <p:nvGraphicFramePr>
          <p:cNvPr id="154" name="Google Shape;154;p17"/>
          <p:cNvGraphicFramePr/>
          <p:nvPr/>
        </p:nvGraphicFramePr>
        <p:xfrm>
          <a:off x="800100" y="3429000"/>
          <a:ext cx="5334000" cy="3000000"/>
        </p:xfrm>
        <a:graphic>
          <a:graphicData uri="http://schemas.openxmlformats.org/drawingml/2006/table">
            <a:tbl>
              <a:tblPr firstRow="1" bandRow="1">
                <a:noFill/>
                <a:tableStyleId>{A6AB7F35-DD92-48C5-9307-3BCD4BD15587}</a:tableStyleId>
              </a:tblPr>
              <a:tblGrid>
                <a:gridCol w="1258650"/>
                <a:gridCol w="1599900"/>
                <a:gridCol w="2475450"/>
              </a:tblGrid>
              <a:tr h="37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人员</a:t>
                      </a:r>
                      <a:endParaRPr lang="en-US" sz="105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职责角色</a:t>
                      </a:r>
                      <a:endParaRPr lang="en-US" sz="105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核心模块</a:t>
                      </a:r>
                      <a:endParaRPr lang="en-US" sz="105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丁崇轩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组长/架构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CI/环境/报告整合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邵蔚蓝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测试执行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员工管理 + JWT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陈文杰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测试执行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菜品管理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37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张瑞东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测试执行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C端下单 + 支付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翁士帅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性能/安全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报表统计 + 压测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7"/>
          <p:cNvSpPr txBox="1"/>
          <p:nvPr>
            <p:custDataLst>
              <p:tags r:id="rId2"/>
            </p:custDataLst>
          </p:nvPr>
        </p:nvSpPr>
        <p:spPr>
          <a:xfrm>
            <a:off x="742950" y="1484947"/>
            <a:ext cx="571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6" name="Google Shape;156;p17"/>
          <p:cNvSpPr txBox="1"/>
          <p:nvPr>
            <p:custDataLst>
              <p:tags r:id="rId3"/>
            </p:custDataLst>
          </p:nvPr>
        </p:nvSpPr>
        <p:spPr>
          <a:xfrm>
            <a:off x="800100" y="1485900"/>
            <a:ext cx="495300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W1：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用例设计完成（Jira 看板就绪）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7" name="Google Shape;157;p17"/>
          <p:cNvSpPr txBox="1"/>
          <p:nvPr>
            <p:custDataLst>
              <p:tags r:id="rId4"/>
            </p:custDataLst>
          </p:nvPr>
        </p:nvSpPr>
        <p:spPr>
          <a:xfrm>
            <a:off x="742950" y="1759237"/>
            <a:ext cx="571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8" name="Google Shape;158;p17"/>
          <p:cNvSpPr txBox="1"/>
          <p:nvPr>
            <p:custDataLst>
              <p:tags r:id="rId5"/>
            </p:custDataLst>
          </p:nvPr>
        </p:nvSpPr>
        <p:spPr>
          <a:xfrm>
            <a:off x="800100" y="1760190"/>
            <a:ext cx="495300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W2：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单元测试通过（行覆盖率 &gt; 70%）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9" name="Google Shape;159;p17"/>
          <p:cNvSpPr txBox="1"/>
          <p:nvPr>
            <p:custDataLst>
              <p:tags r:id="rId6"/>
            </p:custDataLst>
          </p:nvPr>
        </p:nvSpPr>
        <p:spPr>
          <a:xfrm>
            <a:off x="742950" y="2033527"/>
            <a:ext cx="571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0" name="Google Shape;160;p17"/>
          <p:cNvSpPr txBox="1"/>
          <p:nvPr>
            <p:custDataLst>
              <p:tags r:id="rId7"/>
            </p:custDataLst>
          </p:nvPr>
        </p:nvSpPr>
        <p:spPr>
          <a:xfrm>
            <a:off x="800100" y="2034480"/>
            <a:ext cx="495300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W3：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集成测试完成（全链路验证）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1" name="Google Shape;161;p17"/>
          <p:cNvSpPr txBox="1"/>
          <p:nvPr>
            <p:custDataLst>
              <p:tags r:id="rId8"/>
            </p:custDataLst>
          </p:nvPr>
        </p:nvSpPr>
        <p:spPr>
          <a:xfrm>
            <a:off x="742950" y="2307818"/>
            <a:ext cx="571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2" name="Google Shape;162;p17"/>
          <p:cNvSpPr txBox="1"/>
          <p:nvPr>
            <p:custDataLst>
              <p:tags r:id="rId9"/>
            </p:custDataLst>
          </p:nvPr>
        </p:nvSpPr>
        <p:spPr>
          <a:xfrm>
            <a:off x="800100" y="2308770"/>
            <a:ext cx="495300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W4：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系统测试完成（产出压测报告）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 2 章：测试计划与团队分工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3" name="图片 7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2420" y="1469390"/>
            <a:ext cx="4881880" cy="4217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294733"/>
            <a:ext cx="11049000" cy="90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336452"/>
            <a:ext cx="3555950" cy="1767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17950" y="2336452"/>
            <a:ext cx="3555950" cy="1767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64400" y="2336452"/>
            <a:ext cx="3556099" cy="17677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762000" y="4609058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风险评估：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针对微信支付采用 Mock 策略；通过 H2 专用 Schema 解决 SQL 语法差异；通过 Jira 每日看板缓解进度风险。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762000" y="2565052"/>
            <a:ext cx="33336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开发测试层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762000" y="3022252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JUnit 5 + Mockito 5.x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762000" y="3467992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H2 内存数据库 (单测)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4508450" y="2565052"/>
            <a:ext cx="33336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持续集成层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4508450" y="3022252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GitHub Actions (CI)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4508450" y="3467992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Docker (MySQL/Redis)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8254900" y="2565052"/>
            <a:ext cx="333385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系统压测层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8254900" y="3022252"/>
            <a:ext cx="31750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Apifox (自动化)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8254900" y="3467992"/>
            <a:ext cx="31750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JMeter 5.x (并发)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测试技术栈与环境分层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099619"/>
            <a:ext cx="5334000" cy="14780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19"/>
          <p:cNvGraphicFramePr/>
          <p:nvPr/>
        </p:nvGraphicFramePr>
        <p:xfrm>
          <a:off x="571500" y="2051744"/>
          <a:ext cx="11049000" cy="3000000"/>
        </p:xfrm>
        <a:graphic>
          <a:graphicData uri="http://schemas.openxmlformats.org/drawingml/2006/table">
            <a:tbl>
              <a:tblPr firstRow="1" bandRow="1">
                <a:noFill/>
                <a:tableStyleId>{A6AB7F35-DD92-48C5-9307-3BCD4BD15587}</a:tableStyleId>
              </a:tblPr>
              <a:tblGrid>
                <a:gridCol w="2162475"/>
                <a:gridCol w="1769275"/>
                <a:gridCol w="3364550"/>
                <a:gridCol w="1769275"/>
                <a:gridCol w="1983425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阶段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测试类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用例/场景总数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通过率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状态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单元测试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34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355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100%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Pass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集成测试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18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32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100%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Pass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系统测试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-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62 接口 / 4 梯度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100%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Pass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19"/>
          <p:cNvSpPr/>
          <p:nvPr/>
        </p:nvSpPr>
        <p:spPr>
          <a:xfrm>
            <a:off x="571500" y="2894707"/>
            <a:ext cx="216247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733972" y="2894707"/>
            <a:ext cx="176926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503241" y="2894707"/>
            <a:ext cx="336455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867798" y="2894707"/>
            <a:ext cx="176926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9637067" y="2894707"/>
            <a:ext cx="198343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71500" y="3323332"/>
            <a:ext cx="216247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2733972" y="3323332"/>
            <a:ext cx="176926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503241" y="3323332"/>
            <a:ext cx="336455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7867798" y="3323332"/>
            <a:ext cx="176926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9637067" y="3323332"/>
            <a:ext cx="198343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71500" y="3751957"/>
            <a:ext cx="216247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2733972" y="3751957"/>
            <a:ext cx="176926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503241" y="3751957"/>
            <a:ext cx="336455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7867798" y="3751957"/>
            <a:ext cx="176926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9637067" y="3751957"/>
            <a:ext cx="1983432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762000" y="4413944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发现缺陷总数：5 个</a:t>
            </a:r>
            <a:endParaRPr lang="en-US" sz="1350" b="1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762000" y="4859684"/>
            <a:ext cx="5000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已全部修复并通过回归验证。其中 1 个高危缺陷在单测阶段检出。</a:t>
            </a:r>
            <a:endParaRPr lang="en-US" sz="10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286500" y="4004369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主要活动记录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6286500" y="4633019"/>
            <a:ext cx="5334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W1：环境搭建与用例评审通过</a:t>
            </a:r>
            <a:endParaRPr lang="en-US" sz="10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6286500" y="4979640"/>
            <a:ext cx="5334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W2：GitHub Actions CI 流水线正式运行</a:t>
            </a:r>
            <a:endParaRPr lang="en-US" sz="10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6286500" y="5326260"/>
            <a:ext cx="5334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W3：Docker 生产级中间件集成环境部署</a:t>
            </a:r>
            <a:endParaRPr lang="en-US" sz="10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229" name="Google Shape;22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58735" y="2575619"/>
            <a:ext cx="54009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58735" y="3004244"/>
            <a:ext cx="54009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58735" y="3432869"/>
            <a:ext cx="54009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 3 章：测试概述与执行记录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3662102" y="2429767"/>
            <a:ext cx="486779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 4 章：单元测试</a:t>
            </a:r>
            <a:endParaRPr lang="en-US" sz="4500" b="1" i="0" u="none" strike="noStrike" cap="none">
              <a:solidFill>
                <a:srgbClr val="FFFFF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524500" y="3487042"/>
            <a:ext cx="11430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981426" y="3982342"/>
            <a:ext cx="2229147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0" i="0" u="none" strike="noStrike" cap="none">
              <a:solidFill>
                <a:schemeClr val="bg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209008"/>
            <a:ext cx="11049000" cy="90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422177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17950" y="2422177"/>
            <a:ext cx="3555950" cy="15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64400" y="2422177"/>
            <a:ext cx="3556099" cy="159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762000" y="4523333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统计数据：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共 355 个用例。M3 分类管理 (118个) 与 M7 购物车 (76个) 是测试深度最重的模块。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762000" y="2650777"/>
            <a:ext cx="33336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Controller 层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762000" y="3107977"/>
            <a:ext cx="3174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MockMvc 验证 HTTP 契约与 JSON 响应。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508450" y="2650777"/>
            <a:ext cx="33336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Service 层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508450" y="3107977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Mockito 隔离验证业务逻辑分支。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8254900" y="2650777"/>
            <a:ext cx="333385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Mapper 层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8254900" y="3107977"/>
            <a:ext cx="31750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H2 数据库验证 SQL 语句正确性。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单元测试分层逻辑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22"/>
          <p:cNvGraphicFramePr/>
          <p:nvPr/>
        </p:nvGraphicFramePr>
        <p:xfrm>
          <a:off x="571500" y="2247900"/>
          <a:ext cx="11049000" cy="3229000"/>
        </p:xfrm>
        <a:graphic>
          <a:graphicData uri="http://schemas.openxmlformats.org/drawingml/2006/table">
            <a:tbl>
              <a:tblPr firstRow="1" bandRow="1">
                <a:noFill/>
                <a:tableStyleId>{A6AB7F35-DD92-48C5-9307-3BCD4BD15587}</a:tableStyleId>
              </a:tblPr>
              <a:tblGrid>
                <a:gridCol w="870500"/>
                <a:gridCol w="2397775"/>
                <a:gridCol w="1119325"/>
                <a:gridCol w="6661400"/>
              </a:tblGrid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模块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功能范畴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用例数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核心测试方法与验证点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</a:tr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M2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员工管理 + JWT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24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等价类/边界值。多重登录拦截与 Token 生成。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M3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分类 + 菜品管理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118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场景法/因果图。关联删除拦截、口味联表增删改更新。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M4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套餐管理 + 上传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50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判定表/等价类。停售菜品禁止起售套餐逻辑。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M5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订单 + 定时任务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37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状态迁移图/场景法。合法状态流转校验与超时自动取消。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M6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C端用户 + 地址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22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等价类/边界值。默认地址互斥切换，新用户自动注册。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M7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购物车 + 下单支付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76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场景法/正交法。下单事务链保证、重复下单幂等性验证。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3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M8</a:t>
                      </a:r>
                      <a:endParaRPr lang="en-US" sz="1200" b="1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报表 + 基础设施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28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判定表。营业额报表生成逻辑、AutoFill AOP拦截填充。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p22"/>
          <p:cNvSpPr/>
          <p:nvPr/>
        </p:nvSpPr>
        <p:spPr>
          <a:xfrm>
            <a:off x="571500" y="3062287"/>
            <a:ext cx="87049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1441995" y="3062287"/>
            <a:ext cx="2397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3839765" y="3062287"/>
            <a:ext cx="11193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4959101" y="3062287"/>
            <a:ext cx="66613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571500" y="3462337"/>
            <a:ext cx="87049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441995" y="3462337"/>
            <a:ext cx="2397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3839765" y="3462337"/>
            <a:ext cx="11193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959101" y="3462337"/>
            <a:ext cx="66613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571500" y="3862387"/>
            <a:ext cx="87049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1441995" y="3862387"/>
            <a:ext cx="2397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3839765" y="3862387"/>
            <a:ext cx="11193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959101" y="3862387"/>
            <a:ext cx="66613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571500" y="4262437"/>
            <a:ext cx="87049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1441995" y="4262437"/>
            <a:ext cx="2397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3839765" y="4262437"/>
            <a:ext cx="11193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959101" y="4262437"/>
            <a:ext cx="66613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571500" y="4662487"/>
            <a:ext cx="87049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1441995" y="4662487"/>
            <a:ext cx="2397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3839765" y="4662487"/>
            <a:ext cx="11193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959101" y="4662487"/>
            <a:ext cx="66613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571500" y="5062537"/>
            <a:ext cx="87049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1441995" y="5062537"/>
            <a:ext cx="2397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3839765" y="5062537"/>
            <a:ext cx="11193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4959101" y="5062537"/>
            <a:ext cx="66613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571500" y="5462587"/>
            <a:ext cx="87049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1441995" y="5462587"/>
            <a:ext cx="2397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3839765" y="5462587"/>
            <a:ext cx="111933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4959101" y="5462587"/>
            <a:ext cx="66613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M2-M8 模块核心工作简述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571500" y="237842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常用黑盒设计方法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571500" y="3007072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在单元测试阶段，我们针对业务复杂度选用了多种黑盒测试设计方法：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6286500" y="237842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复杂逻辑分析方法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895350" y="34518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952500" y="345281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等价类划分法：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将输入域划分为有效与无效集合，以最小用例集覆盖最大范围。应用于 M2 登录与 M6 用户注册。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895350" y="400044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952500" y="400139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边界值分析法：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聚焦输入域边缘，如密码长度限制、库存为 0 或 1 的临界点。补充了 M2 的安全校验深度。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895350" y="454902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952500" y="4549973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判定表法：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针对具有明确逻辑因果的模块，如 M4 套餐起售校验（涉及菜品状态组合），穷举所有条件动作关联。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6610350" y="300611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6667500" y="300707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场景法：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站在用户视角构造“基本流”与“备选流”。在 M3 菜品管理与 M7 订单支付流程中，通过故事线串联多个原子操作。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6610350" y="355470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6667500" y="355565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状态迁移图：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专门针对 M5 订单状态机设计。详尽梳理“待接单”到“已完成”的所有合法变迁，并构造非法迁移用例验证鲁棒性。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6610350" y="410328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6667500" y="4104233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因果图法：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分析输入条件的制约关系。在 M3 分类删除逻辑中，通过逻辑图生成判定表，确保关联业务拦截无死角。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用例设计方法选型与应用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620517"/>
            <a:ext cx="11049000" cy="117723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571500" y="190782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通过对不同模块采用不同方法，我们总结了各种设计策略在单测中的效能差异：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graphicFrame>
        <p:nvGraphicFramePr>
          <p:cNvPr id="325" name="Google Shape;325;p24"/>
          <p:cNvGraphicFramePr/>
          <p:nvPr/>
        </p:nvGraphicFramePr>
        <p:xfrm>
          <a:off x="571500" y="2448817"/>
          <a:ext cx="11048975" cy="3000000"/>
        </p:xfrm>
        <a:graphic>
          <a:graphicData uri="http://schemas.openxmlformats.org/drawingml/2006/table">
            <a:tbl>
              <a:tblPr firstRow="1" bandRow="1">
                <a:noFill/>
                <a:tableStyleId>{ECE5F8D2-4424-4801-AFE3-94F13C96CA58}</a:tableStyleId>
              </a:tblPr>
              <a:tblGrid>
                <a:gridCol w="1320250"/>
                <a:gridCol w="1376500"/>
                <a:gridCol w="1806025"/>
                <a:gridCol w="6546200"/>
              </a:tblGrid>
              <a:tr h="5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方法对比</a:t>
                      </a:r>
                      <a:endParaRPr lang="en-US" sz="105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设计焦点</a:t>
                      </a:r>
                      <a:endParaRPr lang="en-US" sz="105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适用场景案例</a:t>
                      </a:r>
                      <a:endParaRPr lang="en-US" sz="105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优劣势分析</a:t>
                      </a:r>
                      <a:endParaRPr lang="en-US" sz="105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等价类 vs 边界值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输入域覆盖与临界点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M2 员工登录、M6 地址簿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等价类保证“广度”，边界值保证“精度”。单独使用等价类常遗漏 0、max 等临界 Bug。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判定表 vs 场景法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逻辑组合与业务流程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M4 套餐起售、M7 下单流程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判定表适合处理“条件-结果”明确的规则逻辑；场景法适合有时序依赖的动态流程，但难以覆盖所有分支组合。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5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因果图 vs 状态迁移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条件制约与系统演变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M3 关联校验、M5 订单状态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因果图适合分析静态输入逻辑；状态迁移则是针对具备“生命周期”的对象进行动态覆盖，对状态机验证不可替代。</a:t>
                      </a:r>
                      <a:endParaRPr lang="en-US" sz="105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26" name="Google Shape;326;p24"/>
          <p:cNvSpPr txBox="1"/>
          <p:nvPr/>
        </p:nvSpPr>
        <p:spPr>
          <a:xfrm>
            <a:off x="762000" y="4934842"/>
            <a:ext cx="10715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实证结论：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在 M7 购物车模块中，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场景法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相比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正交实验法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表现更优。因为下单涉及强时序依赖，场景法能模拟真实用户链，而正交法容易产生大量无意义的因子组合，增加维护成本。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571500" y="3377505"/>
            <a:ext cx="13202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1891754" y="3377505"/>
            <a:ext cx="13765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3268265" y="3377505"/>
            <a:ext cx="18060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5074294" y="3377505"/>
            <a:ext cx="654620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71500" y="3920430"/>
            <a:ext cx="13202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1891754" y="3920430"/>
            <a:ext cx="13765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3268265" y="3920430"/>
            <a:ext cx="18060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074294" y="3920430"/>
            <a:ext cx="654620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571500" y="4463355"/>
            <a:ext cx="13202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1891754" y="4463355"/>
            <a:ext cx="13765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3268265" y="4463355"/>
            <a:ext cx="18060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5074294" y="4463355"/>
            <a:ext cx="654620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设计方法差别与实证分析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965126"/>
            <a:ext cx="5334000" cy="369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391917"/>
            <a:ext cx="5334000" cy="1177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96025" y="1974651"/>
            <a:ext cx="5314950" cy="368022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571500" y="1965126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任务达成情况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895350" y="259282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952500" y="2593776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用例规模：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累计编写 355 条单元测试用例，覆盖 34 个核心 Java 类。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895350" y="314140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3" name="Google Shape;353;p25"/>
          <p:cNvSpPr txBox="1"/>
          <p:nvPr/>
        </p:nvSpPr>
        <p:spPr>
          <a:xfrm>
            <a:off x="952500" y="3142357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测试质量：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用例一次性通过率 100%，关键业务逻辑（Service层）行覆盖率稳定在 70% 以上。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895350" y="368998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952500" y="3690937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缺陷拦截：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成功检出 BUG-M7-001 (数据隔离缺失) 等高危逻辑缺陷，实现“缺陷前置”。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6" name="Google Shape;356;p25"/>
          <p:cNvSpPr txBox="1"/>
          <p:nvPr/>
        </p:nvSpPr>
        <p:spPr>
          <a:xfrm>
            <a:off x="762000" y="470624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JUnit 5 与 Mockito 的深度应用，我们实现了全自动化的 CI 回归环境，确保了后期重构的安全性。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357" name="Google Shape;357;p2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31150" y="2885182"/>
            <a:ext cx="4445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 txBox="1"/>
          <p:nvPr/>
        </p:nvSpPr>
        <p:spPr>
          <a:xfrm>
            <a:off x="7953375" y="3818632"/>
            <a:ext cx="2000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[在此处插入单测汇总图表]</a:t>
            </a:r>
            <a:endParaRPr lang="en-US" sz="1350" b="1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9" name="Google Shape;359;p25"/>
          <p:cNvSpPr txBox="1"/>
          <p:nvPr/>
        </p:nvSpPr>
        <p:spPr>
          <a:xfrm>
            <a:off x="7390209" y="4397722"/>
            <a:ext cx="3126432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建议：插入模块用例分布柱状图或项目燃尽图 (Fig. 1)</a:t>
            </a:r>
            <a:endParaRPr lang="en-US" sz="10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60" name="Google Shape;360;p25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单元测试任务执行总结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298575"/>
            <a:ext cx="5324475" cy="196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3550285"/>
            <a:ext cx="5304155" cy="23171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92797"/>
            <a:ext cx="5334000" cy="147235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571500" y="246414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检出高危业务缺陷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6286500" y="246414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框架测试隔离问题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762000" y="3407122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BUG-M7-001：数据隔离失效</a:t>
            </a:r>
            <a:endParaRPr lang="en-US" sz="1350" b="1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762000" y="3852862"/>
            <a:ext cx="5000625" cy="43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 M7 模块中发现 showShoppingCart() 误用 .id(userId) 代替了 .userId(userId)，导致查询未按用户过滤，所有用户会看到全部数据。通过单测精准定位并修复。</a:t>
            </a:r>
            <a:endParaRPr lang="en-US" sz="10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6610350" y="309184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6667500" y="3092797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Controller 层隔离：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使用 @WebMvcTest 时未自动加载全局异常处理，需通过 @Import 补充加载 (M2发现)。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6610350" y="364042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6667500" y="3641377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拦截器耦合规避：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避免全切片启动触发 JWT 拦截导致需 Mock 大量无关配置，采用 standaloneSetup 实现真正的 Controller 独立测试 (M5/M8优化)。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6610350" y="446329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6667500" y="4464248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数据库方言：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H2 内存库与真实 MySQL 存在微小语法差异，需维护特定 Schema。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单元测试发现与问题排查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69802"/>
            <a:ext cx="11049000" cy="90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3658492"/>
            <a:ext cx="5334000" cy="159633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/>
          <p:nvPr/>
        </p:nvSpPr>
        <p:spPr>
          <a:xfrm>
            <a:off x="762000" y="278412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BUG-M7-001 已修复：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针对上述检出的购物车查询越权 Bug，在单测验证通过后，已平稳推至集成测试环境。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571500" y="365849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场景法测试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571500" y="4287142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加购 → 重复加购(数量累加) → 减量(1变0自动删除) → 清空购物车。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6477000" y="3887092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结论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6477000" y="434429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场景法更适合处理购物车这种具有“强关联、多步骤、强时序”特点的业务模块，而不是正交组合。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M7 模块：购物车逻辑验证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/>
        </p:nvSpPr>
        <p:spPr>
          <a:xfrm>
            <a:off x="3662102" y="2429767"/>
            <a:ext cx="486779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 5 章：集成测试</a:t>
            </a:r>
            <a:endParaRPr lang="en-US" sz="4500" b="1" i="0" u="none" strike="noStrike" cap="none">
              <a:solidFill>
                <a:srgbClr val="FFFFF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5524500" y="3487042"/>
            <a:ext cx="11430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4981575" y="3982342"/>
            <a:ext cx="222885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418457"/>
            <a:ext cx="5334000" cy="2792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938587"/>
            <a:ext cx="5334000" cy="1177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96025" y="2427982"/>
            <a:ext cx="5314950" cy="277356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7"/>
          <p:cNvSpPr txBox="1"/>
          <p:nvPr/>
        </p:nvSpPr>
        <p:spPr>
          <a:xfrm>
            <a:off x="571500" y="241845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Docker 隔离环境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571500" y="3047107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MySQL 8.0: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端口 3307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571500" y="3492847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7: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端口 6380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762000" y="425291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GitHub Actions 实现每次 Push 后自动执行 18 个测试类，保证主分支代码质量。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69" name="Google Shape;369;p27"/>
          <p:cNvSpPr txBox="1"/>
          <p:nvPr/>
        </p:nvSpPr>
        <p:spPr>
          <a:xfrm>
            <a:off x="8105775" y="3677542"/>
            <a:ext cx="1695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[项目燃尽图-集成测试]</a:t>
            </a:r>
            <a:endParaRPr lang="en-US" sz="1350" b="0" i="1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集成测试环境与 CI/CD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2618740"/>
            <a:ext cx="5263515" cy="267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66825"/>
            <a:ext cx="10553700" cy="655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868042"/>
            <a:ext cx="11049000" cy="90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763142"/>
            <a:ext cx="243066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44031" y="2763142"/>
            <a:ext cx="243066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16563" y="2763142"/>
            <a:ext cx="243066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189094" y="2763142"/>
            <a:ext cx="243066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762000" y="4182367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核心产出：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验证了 JWT 拦截器在不同环境下的鉴权行为，以及 @Transactional 事务回滚在复杂链条下的有效性。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1310580" y="3201292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(状态=待付款)</a:t>
            </a:r>
            <a:endParaRPr lang="en-US" sz="1200" b="1" i="0" u="none" strike="noStrike" cap="none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384" name="Google Shape;384;p2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134171" y="3058417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8"/>
          <p:cNvSpPr txBox="1"/>
          <p:nvPr/>
        </p:nvSpPr>
        <p:spPr>
          <a:xfrm>
            <a:off x="4183112" y="3201292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(状态=待接单)</a:t>
            </a:r>
            <a:endParaRPr lang="en-US" sz="1200" b="1" i="0" u="none" strike="noStrike" cap="none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386" name="Google Shape;386;p2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006703" y="3058417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8"/>
          <p:cNvSpPr txBox="1"/>
          <p:nvPr/>
        </p:nvSpPr>
        <p:spPr>
          <a:xfrm>
            <a:off x="7055643" y="3201292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(状态=派送中)</a:t>
            </a:r>
            <a:endParaRPr lang="en-US" sz="1200" b="1" i="0" u="none" strike="noStrike" cap="none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388" name="Google Shape;388;p2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879234" y="3058417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8"/>
          <p:cNvSpPr txBox="1"/>
          <p:nvPr/>
        </p:nvSpPr>
        <p:spPr>
          <a:xfrm>
            <a:off x="9928175" y="3201292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(状态=已完成)</a:t>
            </a:r>
            <a:endParaRPr lang="en-US" sz="1200" b="1" i="0" u="none" strike="noStrike" cap="none">
              <a:solidFill>
                <a:srgbClr val="00000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核心业务链集成验证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690020"/>
            <a:ext cx="5334000" cy="117723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9"/>
          <p:cNvSpPr txBox="1"/>
          <p:nvPr/>
        </p:nvSpPr>
        <p:spPr>
          <a:xfrm>
            <a:off x="571500" y="1667023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总体执行概况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895350" y="229472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952500" y="2295673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测试规模：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18 个测试类，32 个业务场景。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895350" y="256901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952500" y="2569964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质量指标：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通过率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100%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895350" y="284330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952500" y="2844254"/>
            <a:ext cx="4953000" cy="1693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核心成果：</a:t>
            </a:r>
            <a:endParaRPr lang="en-US" sz="1350" b="1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07" name="Google Shape;407;p29"/>
          <p:cNvSpPr txBox="1"/>
          <p:nvPr/>
        </p:nvSpPr>
        <p:spPr>
          <a:xfrm>
            <a:off x="762000" y="5004345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集成测试有效识别并修复了跨层协作问题，重点解决了单测阶段 Mock 无法覆盖的中间件交互细节。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408" name="Google Shape;408;p2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731150" y="2885182"/>
            <a:ext cx="4445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9"/>
          <p:cNvSpPr txBox="1"/>
          <p:nvPr/>
        </p:nvSpPr>
        <p:spPr>
          <a:xfrm>
            <a:off x="1228725" y="316521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○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2" name="Google Shape;412;p29"/>
          <p:cNvSpPr txBox="1"/>
          <p:nvPr/>
        </p:nvSpPr>
        <p:spPr>
          <a:xfrm>
            <a:off x="1333500" y="3166169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 JWT 拦截器在 Docker 环境下的真实鉴权验证。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3" name="Google Shape;413;p29"/>
          <p:cNvSpPr txBox="1"/>
          <p:nvPr/>
        </p:nvSpPr>
        <p:spPr>
          <a:xfrm>
            <a:off x="1228725" y="343950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○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1333500" y="3440459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验证跨表级联操作（如菜品口味、套餐菜品关联）的事务完整性。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>
            <a:off x="1228725" y="39880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○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6" name="Google Shape;416;p29"/>
          <p:cNvSpPr txBox="1"/>
          <p:nvPr/>
        </p:nvSpPr>
        <p:spPr>
          <a:xfrm>
            <a:off x="1333500" y="398904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确认 Redis 缓存命中与失效逻辑与数据库的一致性。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7" name="Google Shape;417;p29"/>
          <p:cNvSpPr txBox="1"/>
          <p:nvPr/>
        </p:nvSpPr>
        <p:spPr>
          <a:xfrm>
            <a:off x="1228725" y="426237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○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1333500" y="426333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完成 WebSocket 从下单到催单的端到端推送链路。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集成测试任务总结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525" y="2817495"/>
            <a:ext cx="5858510" cy="2263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0"/>
          <p:cNvSpPr txBox="1"/>
          <p:nvPr/>
        </p:nvSpPr>
        <p:spPr>
          <a:xfrm>
            <a:off x="3662102" y="2429767"/>
            <a:ext cx="486779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 6 章：系统测试</a:t>
            </a:r>
            <a:endParaRPr lang="en-US" sz="4500" b="1" i="0" u="none" strike="noStrike" cap="none">
              <a:solidFill>
                <a:srgbClr val="FFFFF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5524500" y="3487042"/>
            <a:ext cx="11430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291357"/>
            <a:ext cx="5334000" cy="30468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1"/>
          <p:cNvSpPr txBox="1"/>
          <p:nvPr/>
        </p:nvSpPr>
        <p:spPr>
          <a:xfrm>
            <a:off x="571500" y="2291357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Apifox 全接口验证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571500" y="2920007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覆盖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62 个接口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（覆盖率 100%）。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37" name="Google Shape;437;p31"/>
          <p:cNvSpPr txBox="1"/>
          <p:nvPr/>
        </p:nvSpPr>
        <p:spPr>
          <a:xfrm>
            <a:off x="571500" y="3365748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验证内容：状态码、JSON 结构、核心字段断言。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38" name="Google Shape;438;p31"/>
          <p:cNvSpPr txBox="1"/>
          <p:nvPr/>
        </p:nvSpPr>
        <p:spPr>
          <a:xfrm>
            <a:off x="571500" y="3811488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结果：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平均接口耗时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&lt; 15ms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439" name="Google Shape;439;p3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612417"/>
            <a:ext cx="5314950" cy="302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1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API 自动化与响应耗时统计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Drawing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890963"/>
            <a:ext cx="2952750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831752"/>
            <a:ext cx="5334000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2841277"/>
            <a:ext cx="5314950" cy="194682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2"/>
          <p:cNvSpPr txBox="1"/>
          <p:nvPr/>
        </p:nvSpPr>
        <p:spPr>
          <a:xfrm>
            <a:off x="6286500" y="283175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性能拐点与吞吐量</a:t>
            </a:r>
            <a:endParaRPr lang="en-US" sz="210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50" name="Google Shape;450;p32"/>
          <p:cNvSpPr txBox="1"/>
          <p:nvPr/>
        </p:nvSpPr>
        <p:spPr>
          <a:xfrm>
            <a:off x="6286500" y="3460402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峰值 TPS：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5,106.1 (200 并发)。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51" name="Google Shape;451;p32"/>
          <p:cNvSpPr txBox="1"/>
          <p:nvPr/>
        </p:nvSpPr>
        <p:spPr>
          <a:xfrm>
            <a:off x="6286500" y="3906142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拐点分析：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500 并发时 TPS 下降 6.9%，响应时间曲线陡增。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52" name="Google Shape;452;p32"/>
          <p:cNvSpPr txBox="1"/>
          <p:nvPr/>
        </p:nvSpPr>
        <p:spPr>
          <a:xfrm>
            <a:off x="6286500" y="4351883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优化建议：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扩容 HikariCP 连接池至 30-50；增加 Redis 预热策略。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53" name="Google Shape;453;p32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JMeter 压力测试结果分析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3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4272855"/>
            <a:ext cx="11049000" cy="9029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1" name="Google Shape;461;p33"/>
          <p:cNvGraphicFramePr/>
          <p:nvPr/>
        </p:nvGraphicFramePr>
        <p:xfrm>
          <a:off x="571500" y="2453580"/>
          <a:ext cx="11049000" cy="3000000"/>
        </p:xfrm>
        <a:graphic>
          <a:graphicData uri="http://schemas.openxmlformats.org/drawingml/2006/table">
            <a:tbl>
              <a:tblPr firstRow="1" bandRow="1">
                <a:noFill/>
                <a:tableStyleId>{A6AB7F35-DD92-48C5-9307-3BCD4BD15587}</a:tableStyleId>
              </a:tblPr>
              <a:tblGrid>
                <a:gridCol w="1600350"/>
                <a:gridCol w="1552575"/>
                <a:gridCol w="1458525"/>
                <a:gridCol w="6437550"/>
              </a:tblGrid>
              <a:tr h="4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编号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严重级别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模块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缺陷描述</a:t>
                      </a:r>
                      <a:endParaRPr lang="en-US" sz="1200" b="1" i="0" u="none" strike="noStrike" cap="none">
                        <a:solidFill>
                          <a:srgbClr val="FFFFFF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</a:tr>
              <a:tr h="4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BUG-002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🔴 致命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M7 下单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XML 参数绑定名错误，下单抛 BindingException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  <a:tr h="4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BUG-003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🟠 高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M8 报表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统计循环条件逻辑反向，仅返回首日数据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BUG-004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🟡 中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M4 上传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空文件校验缺失导致 NPE</a:t>
                      </a:r>
                      <a:endParaRPr lang="en-US" sz="1200" b="0" i="0" u="none" strike="noStrike" cap="none">
                        <a:solidFill>
                          <a:srgbClr val="000000"/>
                        </a:solidFill>
                        <a:latin typeface="Noto Sans SC" panose="020B0500000000000000" charset="-122"/>
                        <a:ea typeface="Noto Sans SC" panose="020B0500000000000000" charset="-122"/>
                        <a:cs typeface="Noto Sans SC" panose="020B0500000000000000" charset="-122"/>
                        <a:sym typeface="Noto Sans SC" panose="020B05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462" name="Google Shape;462;p33"/>
          <p:cNvSpPr txBox="1"/>
          <p:nvPr/>
        </p:nvSpPr>
        <p:spPr>
          <a:xfrm>
            <a:off x="762000" y="4587180"/>
            <a:ext cx="10715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总体评价：</a:t>
            </a: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5 个缺陷已 100% 修复并回归。系统具备上线运行的质量稳定性。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63" name="Google Shape;463;p33"/>
          <p:cNvSpPr/>
          <p:nvPr/>
        </p:nvSpPr>
        <p:spPr>
          <a:xfrm>
            <a:off x="571500" y="3267967"/>
            <a:ext cx="160034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2171848" y="3267967"/>
            <a:ext cx="15525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3724423" y="3267967"/>
            <a:ext cx="145851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182939" y="3267967"/>
            <a:ext cx="643756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71500" y="3668017"/>
            <a:ext cx="160034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2171848" y="3668017"/>
            <a:ext cx="15525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3724423" y="3668017"/>
            <a:ext cx="145851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5182939" y="3668017"/>
            <a:ext cx="643756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571500" y="4068067"/>
            <a:ext cx="160034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2171848" y="4068067"/>
            <a:ext cx="15525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3724423" y="4068067"/>
            <a:ext cx="145851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5182939" y="4068067"/>
            <a:ext cx="643756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测试总结：典型缺陷回顾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879377"/>
            <a:ext cx="3555950" cy="187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17950" y="2879377"/>
            <a:ext cx="3555950" cy="187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2879377"/>
            <a:ext cx="3556099" cy="187062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4"/>
          <p:cNvSpPr txBox="1"/>
          <p:nvPr/>
        </p:nvSpPr>
        <p:spPr>
          <a:xfrm>
            <a:off x="762000" y="3107977"/>
            <a:ext cx="33336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保障社会运行可靠性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762000" y="3565177"/>
            <a:ext cx="3174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修复 BUG-002 这种致命缺陷，保障了商户收入与用户下单的信任基础。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4508450" y="3107977"/>
            <a:ext cx="33336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践行绿色计算理念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88" name="Google Shape;488;p34"/>
          <p:cNvSpPr txBox="1"/>
          <p:nvPr/>
        </p:nvSpPr>
        <p:spPr>
          <a:xfrm>
            <a:off x="4508450" y="3565177"/>
            <a:ext cx="31749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性能压测识别出“空转耗能”瓶颈，通过调优提升单机处理能力，降低数据中心能耗。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8254900" y="3107977"/>
            <a:ext cx="333385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数字化项目管理</a:t>
            </a:r>
            <a:endParaRPr lang="en-US" sz="16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90" name="Google Shape;490;p34"/>
          <p:cNvSpPr txBox="1"/>
          <p:nvPr/>
        </p:nvSpPr>
        <p:spPr>
          <a:xfrm>
            <a:off x="8254900" y="3565177"/>
            <a:ext cx="317509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Jira 的管理体系，实现了测试过程的数字化资产沉淀与知识传承。</a:t>
            </a:r>
            <a:endParaRPr lang="en-US" sz="1350" b="0" i="0" u="none" strike="noStrike" cap="none">
              <a:solidFill>
                <a:srgbClr val="33333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762000" y="3810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206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软件测试与社会可持续发展</a:t>
            </a:r>
            <a:endParaRPr lang="en-US" sz="3150" b="1" i="0" u="none" strike="noStrike" cap="none">
              <a:solidFill>
                <a:srgbClr val="00206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571500" y="381000"/>
            <a:ext cx="76200" cy="533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3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6"/>
          <p:cNvSpPr txBox="1"/>
          <p:nvPr/>
        </p:nvSpPr>
        <p:spPr>
          <a:xfrm>
            <a:off x="4495800" y="1821209"/>
            <a:ext cx="3200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谢谢观看</a:t>
            </a:r>
            <a:endParaRPr lang="en-US" sz="6000" b="1" i="0" u="none" strike="noStrike" cap="none">
              <a:solidFill>
                <a:srgbClr val="FFFFF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503" name="Google Shape;503;p36"/>
          <p:cNvSpPr/>
          <p:nvPr/>
        </p:nvSpPr>
        <p:spPr>
          <a:xfrm>
            <a:off x="5619750" y="3135659"/>
            <a:ext cx="952500" cy="38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" name="Google Shape;504;p36"/>
          <p:cNvSpPr txBox="1"/>
          <p:nvPr/>
        </p:nvSpPr>
        <p:spPr>
          <a:xfrm>
            <a:off x="4895850" y="3726209"/>
            <a:ext cx="24003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bg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苍穹外卖测试项目组</a:t>
            </a:r>
            <a:endParaRPr lang="en-US" sz="2100" b="0" i="0" u="none" strike="noStrike" cap="none">
              <a:solidFill>
                <a:schemeClr val="bg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ags/tag2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ags/tag3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ags/tag4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ags/tag5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ags/tag6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ags/tag7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ags/tag8.xml><?xml version="1.0" encoding="utf-8"?>
<p:tagLst xmlns:p="http://schemas.openxmlformats.org/presentationml/2006/main">
  <p:tag name="KSO_WM_DIAGRAM_VIRTUALLY_FRAME" val="{&quot;height&quot;:91.01795275590544,&quot;left&quot;:58.5,&quot;top&quot;:116.92496062992127,&quot;width&quot;:394.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4351</Words>
  <Application>WPS 演示</Application>
  <PresentationFormat/>
  <Paragraphs>556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Noto Sans SC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轩辕剑</cp:lastModifiedBy>
  <cp:revision>4</cp:revision>
  <dcterms:created xsi:type="dcterms:W3CDTF">2026-06-15T02:40:00Z</dcterms:created>
  <dcterms:modified xsi:type="dcterms:W3CDTF">2026-06-15T05:44:57Z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C44177E250EB4E24B6034E32995F365E_13</vt:lpwstr>
  </property>
</Properties>
</file>