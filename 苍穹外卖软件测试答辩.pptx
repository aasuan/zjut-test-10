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苍穹外卖系统 · 软件测试答辩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苍穹外卖系统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软件测试答辩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基于Spring Boot的在线外卖订购系统，完整测试流程覆盖单元测试、集成测试、性能测试与系统测试。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浙江工业大学 · 第十组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02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01  单元测试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355用例 · 37个测试类 · 三层架构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02  集成测试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32场景 · 18个测试类 · 全链路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03  性能测试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5106TPS峰值 · JMeter压测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04  系统测试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62接口 · API自动化 · 全量覆盖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03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FA7"/>
                </a:solidFill>
              </a:defRPr>
            </a:pPr>
            <a:r>
              <a:t>苍穹外卖系统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基于Spring Boot开发的在线外卖订购系统，采用前后端分离架构。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Spring Boot 3.1.2 + MyBatis + MySQL 8.0 + Redis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功能模块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管理端：菜品/套餐/订单/员工/数据报表</a:t>
            </a:r>
            <a:br/>
            <a:r>
              <a:t>C端：用户/地址簿/购物车/下单/支付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测试周期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2026年5月 W1-W4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测试分工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04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FA7"/>
                </a:solidFill>
              </a:defRPr>
            </a:pPr>
            <a:r>
              <a:t>M1 丁崇轩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组长 · 环境搭建 + CI + 集成/系统测试统筹 + 报告整合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M2 邵蔚蓝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员工管理 + JWT认证 · 24用例 · 等价类 vs 边界值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M3 陈文杰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分类管理 + 菜品管理 · 118用例 · 场景法 vs 因果图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M4 艾恒成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套餐管理 + 文件上传 · 50用例 · 判定表法 vs 等价类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M5 诸佳璐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管理端订单 + 定时任务 · 37用例 · 状态迁移图 vs 场景法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M6 王浩鹏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C端用户 + 地址簿 · 22用例 · 等价类 vs 边界值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M7 张瑞东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C端购物车 + 下单 + 支付 · 76用例 · 场景法 vs 正交实验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M8 翁士帅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报表 + 基础设施 + 性能 + 安全 · 28用例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测试设计策略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05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M2 等价类 vs 边界值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员工登录/JWT认证</a:t>
            </a:r>
            <a:br/>
            <a:r>
              <a:t>输入域覆盖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M3 场景法 vs 因果图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分类/菜品关联</a:t>
            </a:r>
            <a:br/>
            <a:r>
              <a:t>业务逻辑覆盖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M4 判定表 vs 等价类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套餐状态组合</a:t>
            </a:r>
            <a:br/>
            <a:r>
              <a:t>条件组合覆盖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M5 状态迁移 vs 场景法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订单流转</a:t>
            </a:r>
            <a:br/>
            <a:r>
              <a:t>状态转移覆盖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M6 等价类 vs 边界值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C端用户/地址簿</a:t>
            </a:r>
            <a:br/>
            <a:r>
              <a:t>字段校验覆盖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M7 场景法 vs 正交实验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购物车/下单/支付</a:t>
            </a:r>
            <a:br/>
            <a:r>
              <a:t>全流程覆盖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整体 白盒+黑盒结合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三层架构测试</a:t>
            </a:r>
            <a:br/>
            <a:r>
              <a:t>分支+逻辑覆盖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CHAPTER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单元测试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Unit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W2 · 2026.05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测试用例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355个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测试类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37个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通过率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单元测试 · 三层架构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07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LAYER 01 Controller层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@WebMvcTest + MockMvc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HTTP状态码验证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响应JSON结构验证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LAYER 02 Service层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Mockito Mock Mapper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业务逻辑分支覆盖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异常抛出验证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</a:defRPr>
            </a:pPr>
            <a:r>
              <a:t>LAYER 03 Mapper层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@MybatisTest + H2</a:t>
            </a:r>
            <a:br/>
            <a:r>
              <a:t>SQL正确性验证</a:t>
            </a:r>
            <a:br/>
            <a:r>
              <a:t>唯一约束/分页查询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M2-M3: 142用例 (员工/分类/菜品)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M4-M5: 87用例 (套餐/订单/定时)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M6-M7: 98用例 (用户/购物车/支付)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M8: 28用例 (报表/基础设施)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单元测试 · 测试方法对比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08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</a:defRPr>
            </a:pPr>
            <a:r>
              <a:t>等价类 vs 边界值 → 输入域测试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有效/无效等价类划分 + 边界值兜底，M2/M6覆盖登录/地址字段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</a:defRPr>
            </a:pPr>
            <a:r>
              <a:t>场景法 vs 因果图 → 业务逻辑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用户场景模拟 + 条件结果关系分析，M3/M5/M7覆盖菜品/订单/下单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</a:defRPr>
            </a:pPr>
            <a:r>
              <a:t>判定表 vs 正交实验 → 组合测试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多条件组合场景 + 多因素多水平精简，M4/M7覆盖套餐/支付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</a:defRPr>
            </a:pPr>
            <a:r>
              <a:t>白盒+黑盒 → 三层测试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白盒分支覆盖 + 黑盒功能验证，37个测试类覆盖Controller/Service/Mapper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单元测试 · 用例设计详解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09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为什么测这些部分？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01 Controller层</a:t>
            </a:r>
            <a:br/>
            <a:r>
              <a:t>处理HTTP请求入口，验证请求参数校验、响应状态码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02 Service层</a:t>
            </a:r>
            <a:br/>
            <a:r>
              <a:t>核心业务逻辑，验证业务规则、事务边界、异常处理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03 Mapper层</a:t>
            </a:r>
            <a:br/>
            <a:r>
              <a:t>数据访问层，验证SQL正确性、索引使用、分页查询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为什么这么设计用例？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EQ 等价类划分</a:t>
            </a:r>
            <a:br/>
            <a:r>
              <a:t>适用于输入域广泛的字段校验（如手机号、邮箱）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BV 边界值分析</a:t>
            </a:r>
            <a:br/>
            <a:r>
              <a:t>适用于数值范围校验（如价格、数量、时间）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ST 场景法</a:t>
            </a:r>
            <a:br/>
            <a:r>
              <a:t>适用于业务流程验证（如下单、支付、订单状态流转）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297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DT 判定表</a:t>
            </a:r>
            <a:br/>
            <a:r>
              <a:t>适用于多条件组合场景（如套餐状态组合）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单元测试详情 · M2-M4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10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</a:defRPr>
            </a:pPr>
            <a:r>
              <a:t>M2 员工管理 +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24用例</a:t>
            </a:r>
            <a:br/>
            <a:r>
              <a:t>登录认证 · 增删改查</a:t>
            </a:r>
            <a:br/>
            <a:r>
              <a:t>方法对比：等价类 vs 边界值</a:t>
            </a:r>
            <a:br/>
            <a:r>
              <a:t>发现登录四重校验逻辑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</a:defRPr>
            </a:pPr>
            <a:r>
              <a:t>M3 分类管理 + 菜品管理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118用例</a:t>
            </a:r>
            <a:br/>
            <a:r>
              <a:t>7个测试类 · 最多用例</a:t>
            </a:r>
            <a:br/>
            <a:r>
              <a:t>方法对比：场景法 vs 因果图</a:t>
            </a:r>
            <a:br/>
            <a:r>
              <a:t>Redis缓存清除验证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</a:defRPr>
            </a:pPr>
            <a:r>
              <a:t>M4 套餐管理 + 文件上传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50用例</a:t>
            </a:r>
            <a:br/>
            <a:r>
              <a:t>套餐启停状态校验</a:t>
            </a:r>
            <a:br/>
            <a:r>
              <a:t>方法对比：判定表法 vs 等价类</a:t>
            </a:r>
            <a:br/>
            <a:r>
              <a:t>文件大小/格式边界测试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单元测试详情 · M5-M8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11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M5 管理端订单</a:t>
            </a:r>
            <a:br/>
            <a:r>
              <a:t>37用例</a:t>
            </a:r>
            <a:br/>
            <a:r>
              <a:t>状态迁移图覆盖</a:t>
            </a:r>
            <a:br/>
            <a:r>
              <a:t>订单6种状态流转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M6 C端用户+地址</a:t>
            </a:r>
            <a:br/>
            <a:r>
              <a:t>22用例</a:t>
            </a:r>
            <a:br/>
            <a:r>
              <a:t>默认地址互斥切换</a:t>
            </a:r>
            <a:br/>
            <a:r>
              <a:t>微信登录逻辑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M7 购物车+下单</a:t>
            </a:r>
            <a:br/>
            <a:r>
              <a:t>76用例</a:t>
            </a:r>
            <a:br/>
            <a:r>
              <a:t>最多用例模块</a:t>
            </a:r>
            <a:br/>
            <a:r>
              <a:t>🔴发现用户隔离Bug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M8 报表+基础设施</a:t>
            </a:r>
            <a:br/>
            <a:r>
              <a:t>28用例</a:t>
            </a:r>
            <a:br/>
            <a:r>
              <a:t>GlobalExceptionHandler</a:t>
            </a:r>
            <a:br/>
            <a:r>
              <a:t>AutoFillAspect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BUG-M7-001: 购物车查询未按用户隔离（.id→.userId），集成测试阶段发现并修复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CHAPTER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集成测试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Integration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W3 · 2026.05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测试场景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32个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测试类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18个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发现缺陷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集成测试 · 环境与架构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13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</a:defRPr>
            </a:pPr>
            <a:r>
              <a:t>ENV 01 测试基类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@SpringBootTest</a:t>
            </a:r>
            <a:br/>
            <a:r>
              <a:t>@AutoConfigureMockMvc</a:t>
            </a:r>
            <a:br/>
            <a:r>
              <a:t>@Transactional自动回滚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</a:defRPr>
            </a:pPr>
            <a:r>
              <a:t>ENV 02 中间件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Docker MySQL 8.0 (3307)</a:t>
            </a:r>
            <a:br/>
            <a:r>
              <a:t>Redis 7 (6380)</a:t>
            </a:r>
            <a:br/>
            <a:r>
              <a:t>真实数据环境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</a:defRPr>
            </a:pPr>
            <a:r>
              <a:t>ENV 03 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GitHub Actions</a:t>
            </a:r>
            <a:br/>
            <a:r>
              <a:t>mvn test --batch-mode</a:t>
            </a:r>
            <a:br/>
            <a:r>
              <a:t>每次Push自动运行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关键验证点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JWT拦截器鉴权链路 | @Transactional事务回滚 | Redis缓存一致性 | WebSocket实时推送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集成测试 · 策略与验证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14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策略1 真实环境集成</a:t>
            </a:r>
            <a:br/>
            <a:r>
              <a:t>Docker MySQL/Redis</a:t>
            </a:r>
            <a:br/>
            <a:r>
              <a:t>非Mock真实连接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策略2 事务自动回滚</a:t>
            </a:r>
            <a:br/>
            <a:r>
              <a:t>@Transactional注解</a:t>
            </a:r>
            <a:br/>
            <a:r>
              <a:t>每次测试后数据清零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策略3 全链路覆盖</a:t>
            </a:r>
            <a:br/>
            <a:r>
              <a:t>请求→处理→数据库</a:t>
            </a:r>
            <a:br/>
            <a:r>
              <a:t>端到端完整流程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策略4 缺陷发现</a:t>
            </a:r>
            <a:br/>
            <a:r>
              <a:t>用户隔离Bug</a:t>
            </a:r>
            <a:br/>
            <a:r>
              <a:t>购物车查询修复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集成测试 · 关键场景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15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M2 JWT鉴权: 2场景</a:t>
            </a:r>
            <a:br/>
            <a:r>
              <a:t>Token验证·401拦截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M3 分类菜品: 3场景</a:t>
            </a:r>
            <a:br/>
            <a:r>
              <a:t>关联删除·口味生命周期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M6 用户地址: 5场景</a:t>
            </a:r>
            <a:br/>
            <a:r>
              <a:t>默认切换·权限隔离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M7 购物车下单: 5场景</a:t>
            </a:r>
            <a:br/>
            <a:r>
              <a:t>全流程·支付·隔离·幂等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关键发现: JWT拦截器正确放行有效Token并拦截无效Token，C端/管理端权限隔离验证通过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572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事务验证: @Transactional在异常情况下正确回滚，口味联表操作的多表事务端到端保证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CHAPTER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性能测试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Performance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W4 · 2026.05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峰值TPS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最佳并发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200并发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压测工具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JMeter 5.6.3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性能测试 · TPS-并发曲线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17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50并发: 4,864 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100并发: 4,986 TPS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</a:defRPr>
            </a:pPr>
            <a:r>
              <a:t>200并发: 5,106 TPS (峰值)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0A0A"/>
                </a:solidFill>
              </a:defRPr>
            </a:pPr>
            <a:r>
              <a:t>500并发: 4,755 TPS (-6.9%)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扩展性良好: 50→200并发，TPS稳步增长约5%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572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性能拐点: 200→500并发，TPS下降6.9%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瓶颈定位: HikariCP连接池(10)饱和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性能测试 · 瓶颈与优化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18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🔴 高优先级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HikariCP扩容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max-pool-size=30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🔴 高优先级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Tomcat扩容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threads.max=400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🟡 中优先级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分机压测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消除资源争抢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🟢 低优先级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Redis缓存预热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提升查询TPS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总体评价: 系统峰值TPS 5,106，200并发以内性能稳定，满足课程设计级别的小型外卖系统性能要求。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CHAPTER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System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W4 · 2026.05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API接口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62个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测试工具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Apifox 2.8.31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响应时间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&lt;15ms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系统测试 · API测试设计详解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20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为什么测这些接口？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01 核心业务接口</a:t>
            </a:r>
            <a:br/>
            <a:r>
              <a:t>下单、支付、订单状态流转等核心链路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02 权限敏感接口</a:t>
            </a:r>
            <a:br/>
            <a:r>
              <a:t>管理员操作、数据报表等需权限校验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03 数据一致性接口</a:t>
            </a:r>
            <a:br/>
            <a:r>
              <a:t>分类/菜品/套餐的级联操作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04 高并发接口</a:t>
            </a:r>
            <a:br/>
            <a:r>
              <a:t>购物车、浏览、查询等高频接口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API测试设计策略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REQ 请求参数覆盖</a:t>
            </a:r>
            <a:br/>
            <a:r>
              <a:t>必填/选填、类型校验、边界值、特殊字符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AUTH 认证授权校验</a:t>
            </a:r>
            <a:br/>
            <a:r>
              <a:t>Token有效性、过期Token、权限不足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RESP 响应结构验证</a:t>
            </a:r>
            <a:br/>
            <a:r>
              <a:t>HTTP状态码、JSON结构、字段类型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297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BUS 业务规则验证</a:t>
            </a:r>
            <a:br/>
            <a:r>
              <a:t>状态流转、数据约束、幂等性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系统测试 · API自动化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21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管理端: 29接口</a:t>
            </a:r>
            <a:br/>
            <a:r>
              <a:t>员工(7)·分类(5)·菜品(7)·套餐(6)·文件上传(1)·订单(8)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C端: 27接口</a:t>
            </a:r>
            <a:br/>
            <a:r>
              <a:t>用户(3)·地址簿(7)·购物车(4)·订单(7)·浏览(5)·支付(1)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其他: 6接口</a:t>
            </a:r>
            <a:br/>
            <a:r>
              <a:t>报表统计(5)·工作台(4)·店铺状态(2)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员工CRUD: 8步·100%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菜品CRUD: 8步·100%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报表统计: 5步·100%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工作台数据: 5步·100%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系统测试 · 缺陷统计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22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致命: 1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BUG-002 MyBatis参数绑定错误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高: 2</a:t>
            </a:r>
            <a:br/>
            <a:r>
              <a:t>BUG-001 用户隔离</a:t>
            </a:r>
            <a:br/>
            <a:r>
              <a:t>BUG-003 日期循环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中: 2</a:t>
            </a:r>
            <a:br/>
            <a:r>
              <a:t>BUG-004/005</a:t>
            </a:r>
            <a:br/>
            <a:r>
              <a:t>文件上传NPE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低: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总计: 5</a:t>
            </a:r>
            <a:b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全部已修复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80%的缺陷在系统测试阶段暴露，验证了系统测试不可替代的价值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CHAPTER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测试用例总计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387个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发现缺陷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通过率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测试总结 · 核心成果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24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单元测试: 355用例</a:t>
            </a:r>
            <a:br/>
            <a:r>
              <a:t>100%通过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集成测试: 32场景</a:t>
            </a:r>
            <a:br/>
            <a:r>
              <a:t>全链路验证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性能测试: 5,106TPS</a:t>
            </a:r>
            <a:br/>
            <a:r>
              <a:t>峰值表现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系统测试: 62接口</a:t>
            </a:r>
            <a:br/>
            <a:r>
              <a:t>API全覆盖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测试方法对比: 7种方法</a:t>
            </a:r>
            <a:br/>
            <a:r>
              <a:t>等价类、边界值、判定表、因果图、状态迁移图、场景法、正交实验法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572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工具链: JUnit5 + Mockito + H2 + MockMvc + Apifox + JMeter + Docker + GitHub Actions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A0A0A"/>
                </a:solidFill>
              </a:defRPr>
            </a:pPr>
            <a:r>
              <a:t>25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01 完整测试流程覆盖单元/集成/系统/性能测试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02 全部5个缺陷已发现并修复验证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03 CI/CD自动化流水线持续集成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04 性能测试给出明确优化建议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</a:defRPr>
            </a:pPr>
            <a:r>
              <a:t>待改进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01 数据库连接池扩容至30-50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02 WebSocket推送纳入自动化测试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03 支付回调接口Mock覆盖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04 分机压测获取准确性能数据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26 /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苍穹外卖系统 · 软件测试答辩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01 质量内建</a:t>
            </a:r>
            <a:br/>
            <a:r>
              <a:t>测试不是事后检查，而是贯穿开发的工程文化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</a:defRPr>
            </a:pPr>
            <a:r>
              <a:t>02 方法驱动</a:t>
            </a:r>
            <a:br/>
            <a:r>
              <a:t>7种测试方法互补，确保质量保障的系统化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03 持续迭代</a:t>
            </a:r>
            <a:br/>
            <a:r>
              <a:t>CI/CD自动化让质量保障具有可持续性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4481</Words>
  <Application>WPS 演示</Application>
  <PresentationFormat>On-screen Show (4:3)</PresentationFormat>
  <Paragraphs>510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轩辕剑</cp:lastModifiedBy>
  <cp:revision>2</cp:revision>
  <dcterms:created xsi:type="dcterms:W3CDTF">2013-01-27T09:14:00Z</dcterms:created>
  <dcterms:modified xsi:type="dcterms:W3CDTF">2026-05-29T15:53:19Z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C57512705B704AB8A6FDD3C00DDB7041_13</vt:lpwstr>
  </property>
  <property fmtid="{D5CDD505-2E9C-101B-9397-08002B2CF9AE}" pid="3" name="KSOProductBuildVer">
    <vt:lpwstr>2052-12.1.0.24034</vt:lpwstr>
  </property>
</Properties>
</file>